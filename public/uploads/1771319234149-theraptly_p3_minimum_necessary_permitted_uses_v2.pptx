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Today is the habit that prevents the messy incidents: only access/share what you truly need.</a:t>
            </a:r>
          </a:p>
          <a:p>
            <a:r>
              <a:t>- Smallest data. Fewest people. Least copying.</a:t>
            </a:r>
          </a:p>
          <a:p>
            <a:r>
              <a:t>Ask:</a:t>
            </a:r>
          </a:p>
          <a:p>
            <a:r>
              <a:t>- Where do mistakes happen most for you: email, chat, screenshots, or files?</a:t>
            </a:r>
          </a:p>
          <a:p>
            <a:r>
              <a:t>Emphasize:</a:t>
            </a:r>
          </a:p>
          <a:p>
            <a:r>
              <a:t>- We’re building a default way of working, not a one‑time reminder.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This is designed to be practical: you should use it immediately.</a:t>
            </a:r>
          </a:p>
          <a:p>
            <a:r>
              <a:t>Ask:</a:t>
            </a:r>
          </a:p>
          <a:p>
            <a:r>
              <a:t>- Which objective matters most to your role today?</a:t>
            </a:r>
          </a:p>
          <a:p>
            <a:r>
              <a:t>Emphasize:</a:t>
            </a:r>
          </a:p>
          <a:p>
            <a:r>
              <a:t>- If you can apply this under pressure, you’re operating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Minimum necessary is a habit that makes incidents unlikely.</a:t>
            </a:r>
          </a:p>
          <a:p>
            <a:r>
              <a:t>Emphasize:</a:t>
            </a:r>
          </a:p>
          <a:p>
            <a:r>
              <a:t>- It’s about scope: data, people, and copies.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If a snippet solves it, don’t send the whole file.</a:t>
            </a:r>
          </a:p>
          <a:p>
            <a:r>
              <a:t>- If one person can solve it, don’t broadcast.</a:t>
            </a:r>
          </a:p>
          <a:p>
            <a:r>
              <a:t>Ask:</a:t>
            </a:r>
          </a:p>
          <a:p>
            <a:r>
              <a:t>- What’s a ‘nice‑to‑have’ share you’ve seen that wasn’t necessary?</a:t>
            </a:r>
          </a:p>
          <a:p>
            <a:r>
              <a:t>Emphasize:</a:t>
            </a:r>
          </a:p>
          <a:p>
            <a:r>
              <a:t>- Every extra copy increases blast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Run this flow before you click send, upload, forward, or screenshot.</a:t>
            </a:r>
          </a:p>
          <a:p>
            <a:r>
              <a:t>Ask:</a:t>
            </a:r>
          </a:p>
          <a:p>
            <a:r>
              <a:t>- Which step do you skip most when rushed?</a:t>
            </a:r>
          </a:p>
          <a:p>
            <a:r>
              <a:t>Emphasize:</a:t>
            </a:r>
          </a:p>
          <a:p>
            <a:r>
              <a:t>- This is the difference between fast work and unsafe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Permitted use is not “whatever feels helpful.” It’s what’s allowed and necessary.</a:t>
            </a:r>
          </a:p>
          <a:p>
            <a:r>
              <a:t>Ask:</a:t>
            </a:r>
          </a:p>
          <a:p>
            <a:r>
              <a:t>- When you’re unsure, who do you escalate to today?</a:t>
            </a:r>
          </a:p>
          <a:p>
            <a:r>
              <a:t>Emphasize:</a:t>
            </a:r>
          </a:p>
          <a:p>
            <a:r>
              <a:t>- Don’t freestyle with client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Email is a multiplier: one forward becomes many inboxes.</a:t>
            </a:r>
          </a:p>
          <a:p>
            <a:r>
              <a:t>Ask:</a:t>
            </a:r>
          </a:p>
          <a:p>
            <a:r>
              <a:t>- What’s one thing you will never put in an email subject line?</a:t>
            </a:r>
          </a:p>
          <a:p>
            <a:r>
              <a:t>Emphasize:</a:t>
            </a:r>
          </a:p>
          <a:p>
            <a:r>
              <a:t>- Less detail, fewer recipients, fewer attachments.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Screenshots create permanent copies.</a:t>
            </a:r>
          </a:p>
          <a:p>
            <a:r>
              <a:t>Ask:</a:t>
            </a:r>
          </a:p>
          <a:p>
            <a:r>
              <a:t>- If you need help, what’s safer than a full screenshot?</a:t>
            </a:r>
          </a:p>
          <a:p>
            <a:r>
              <a:t>Emphasize:</a:t>
            </a:r>
          </a:p>
          <a:p>
            <a:r>
              <a:t>- Don’t create a new leak while asking for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Data sprawl is how control is lost: downloads, duplicates, ‘temporary’ copies.</a:t>
            </a:r>
          </a:p>
          <a:p>
            <a:r>
              <a:t>Ask:</a:t>
            </a:r>
          </a:p>
          <a:p>
            <a:r>
              <a:t>- Where do files usually end up when people are rushing?</a:t>
            </a:r>
          </a:p>
          <a:p>
            <a:r>
              <a:t>Emphasize:</a:t>
            </a:r>
          </a:p>
          <a:p>
            <a:r>
              <a:t>- One source of truth beats scattered copies.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Minimum necessary in real life: excerpt beats dump.</a:t>
            </a:r>
          </a:p>
          <a:p>
            <a:r>
              <a:t>Ask:</a:t>
            </a:r>
          </a:p>
          <a:p>
            <a:r>
              <a:t>- In your role, what’s the smallest share that usually solves it?</a:t>
            </a:r>
          </a:p>
          <a:p>
            <a:r>
              <a:t>Emphasize:</a:t>
            </a:r>
          </a:p>
          <a:p>
            <a:r>
              <a:t>- Fewer copies = fewer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Control recipients the same way you control data.</a:t>
            </a:r>
          </a:p>
          <a:p>
            <a:r>
              <a:t>Ask:</a:t>
            </a:r>
          </a:p>
          <a:p>
            <a:r>
              <a:t>- What’s the smallest group that fixes most issues?</a:t>
            </a:r>
          </a:p>
          <a:p>
            <a:r>
              <a:t>Emphasize:</a:t>
            </a:r>
          </a:p>
          <a:p>
            <a:r>
              <a:t>- Broad access is almost never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Reply‑all is the most common ‘oops’.</a:t>
            </a:r>
          </a:p>
          <a:p>
            <a:r>
              <a:t>Ask:</a:t>
            </a:r>
          </a:p>
          <a:p>
            <a:r>
              <a:t>- What’s your pause habit before sending a risky email?</a:t>
            </a:r>
          </a:p>
          <a:p>
            <a:r>
              <a:t>Emphasize:</a:t>
            </a:r>
          </a:p>
          <a:p>
            <a:r>
              <a:t>- Check recipients. Remove attachments. Reduce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These behaviors almost always violate minimum necessary.</a:t>
            </a:r>
          </a:p>
          <a:p>
            <a:r>
              <a:t>Ask:</a:t>
            </a:r>
          </a:p>
          <a:p>
            <a:r>
              <a:t>- Which red flag have you seen most in teams like ours?</a:t>
            </a:r>
          </a:p>
          <a:p>
            <a:r>
              <a:t>Emphasize:</a:t>
            </a:r>
          </a:p>
          <a:p>
            <a:r>
              <a:t>- Escalate early — don’t normalize risky shortcuts.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- One rule: do I truly need this data right now?</a:t>
            </a:r>
          </a:p>
          <a:p>
            <a:r>
              <a:t>Ask:</a:t>
            </a:r>
          </a:p>
          <a:p>
            <a:r>
              <a:t>- What’s one behavior you will stop today?</a:t>
            </a:r>
          </a:p>
          <a:p>
            <a:r>
              <a:t>Emphasize:</a:t>
            </a:r>
          </a:p>
          <a:p>
            <a:r>
              <a:t>- Safe defaults beat perfect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eraptly_p3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94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Minimum Necessary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E1EBF6"/>
                </a:solidFill>
                <a:latin typeface="Aptos"/>
              </a:rPr>
              <a:t>p3 — Permitted Uses • Audience: All Staff • Duration: ~7–8 mins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011680" cy="502920"/>
          </a:xfrm>
          <a:prstGeom prst="roundRect">
            <a:avLst/>
          </a:prstGeom>
          <a:solidFill>
            <a:srgbClr val="749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Define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743200"/>
            <a:ext cx="201168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743200"/>
            <a:ext cx="2011680" cy="502920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Share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2124"/>
                </a:solidFill>
                <a:latin typeface="Aptos"/>
              </a:rPr>
              <a:t>Goal: prevent incidents by using the smallest data, the fewest people, and the least copying.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Learning Objectives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What you should be able to do after this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37215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749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134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Define “minimum necessary” for access and sharing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Apply it to everyday actions: email, screenshots, copying, file sharing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Know what uses are permitted vs not permitted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Avoid over‑sharing behaviors like “reply all” with sensitive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1/13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02D5A"/>
                </a:solidFill>
                <a:latin typeface="Aptos Display"/>
              </a:rPr>
              <a:t>Minimum Necessary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2743200" cy="73152"/>
          </a:xfrm>
          <a:prstGeom prst="rect">
            <a:avLst/>
          </a:prstGeom>
          <a:solidFill>
            <a:srgbClr val="749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A626E"/>
                </a:solidFill>
                <a:latin typeface="Aptos"/>
              </a:rPr>
              <a:t>The simplest rule: share less. Share with fewer people. Create fewer copies.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2/13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Minimum Necessary (Plain Language)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Use/share only what you truly need —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37215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134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Need‑to‑know beats “nice‑to‑have”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Snippet &gt; full document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1–2 solvers &gt; big group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Link in approved system &gt; attachment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3/13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The 5‑Second Decision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The 5‑Second Decision Flow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A 5‑second decision flow you can run under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487853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10312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1220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02D5A"/>
                </a:solidFill>
                <a:latin typeface="Aptos Display"/>
              </a:rPr>
              <a:t>Need it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212209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6E"/>
                </a:solidFill>
                <a:latin typeface="Aptos"/>
              </a:rPr>
              <a:t>If no: don’t access/share.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65093" y="2788920"/>
            <a:ext cx="228600" cy="320040"/>
          </a:xfrm>
          <a:prstGeom prst="rightArrow">
            <a:avLst/>
          </a:prstGeom>
          <a:solidFill>
            <a:srgbClr val="749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693" y="1920240"/>
            <a:ext cx="2487853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76573" y="2103120"/>
            <a:ext cx="502920" cy="502920"/>
          </a:xfrm>
          <a:prstGeom prst="roundRect">
            <a:avLst/>
          </a:prstGeom>
          <a:solidFill>
            <a:srgbClr val="749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2743200"/>
            <a:ext cx="21220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02D5A"/>
                </a:solidFill>
                <a:latin typeface="Aptos Display"/>
              </a:rPr>
              <a:t>Smallest piece?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573" y="3154680"/>
            <a:ext cx="212209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6E"/>
                </a:solidFill>
                <a:latin typeface="Aptos"/>
              </a:rPr>
              <a:t>Use snippet or cropped view.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1547" y="2788920"/>
            <a:ext cx="228600" cy="320040"/>
          </a:xfrm>
          <a:prstGeom prst="rightArrow">
            <a:avLst/>
          </a:prstGeom>
          <a:solidFill>
            <a:srgbClr val="749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0147" y="1920240"/>
            <a:ext cx="2487853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3027" y="2103120"/>
            <a:ext cx="502920" cy="502920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743200"/>
            <a:ext cx="21220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02D5A"/>
                </a:solidFill>
                <a:latin typeface="Aptos Display"/>
              </a:rPr>
              <a:t>Fewest people?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12209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6E"/>
                </a:solidFill>
                <a:latin typeface="Aptos"/>
              </a:rPr>
              <a:t>Only the real solvers.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98001" y="2788920"/>
            <a:ext cx="228600" cy="320040"/>
          </a:xfrm>
          <a:prstGeom prst="rightArrow">
            <a:avLst/>
          </a:prstGeom>
          <a:solidFill>
            <a:srgbClr val="749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6601" y="1920240"/>
            <a:ext cx="2487853" cy="2011680"/>
          </a:xfrm>
          <a:prstGeom prst="roundRect">
            <a:avLst/>
          </a:prstGeom>
          <a:solidFill>
            <a:srgbClr val="F3F6F9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09481" y="2103120"/>
            <a:ext cx="502920" cy="502920"/>
          </a:xfrm>
          <a:prstGeom prst="round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9481" y="2743200"/>
            <a:ext cx="21220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02D5A"/>
                </a:solidFill>
                <a:latin typeface="Aptos Display"/>
              </a:rPr>
              <a:t>Approved place?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9481" y="3154680"/>
            <a:ext cx="212209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6E"/>
                </a:solidFill>
                <a:latin typeface="Aptos"/>
              </a:rPr>
              <a:t>Use secure/approved systems.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4/13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Permitted Uses vs Not Permitted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Permitted = allowed by agreements + required for your job.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Permitted (when required)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Support and client help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Implementation/onboarding work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Troubleshooting issues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Training generation (policies → courses/quizzes)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If unclear: get approval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50876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508760"/>
            <a:ext cx="128016" cy="4709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73736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Not permitted (without approval)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Side projects or personal tools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Real client data for demos/tests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“Just in case” sharing or broad context dumps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Storing extra copies outside approved places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5/13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Email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Make the safer move the default.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128016" cy="4709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DO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Use restricted links in approved systems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Share the exact excerpt needed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Remove unnecessary recipients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Pause 3 seconds before sending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60020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600200"/>
            <a:ext cx="128016" cy="4709160"/>
          </a:xfrm>
          <a:prstGeom prst="rect">
            <a:avLst/>
          </a:prstGeom>
          <a:solidFill>
            <a:srgbClr val="C8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82880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DON’T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Attach full documents by default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Forward long threads with sensitive content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Reply‑all with sensitive details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Repeat sensitive info in subject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6/13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Screenshots &amp; Screen Shares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Make the safer move the default.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128016" cy="4709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DO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Crop to only what matters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Redact names, filenames, sidebars, notifications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Use synthetic/demo environments where possible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60020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600200"/>
            <a:ext cx="128016" cy="4709160"/>
          </a:xfrm>
          <a:prstGeom prst="rect">
            <a:avLst/>
          </a:prstGeom>
          <a:solidFill>
            <a:srgbClr val="C8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82880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DON’T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Send full‑screen captures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Record sessions with real data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Share images in broad channels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Leave identifying info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7/13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Files &amp; Folders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Make the safer move the default.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128016" cy="4709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DO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Keep work in approved locations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Share only one relevant file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Limit access to 1–2 people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60020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600200"/>
            <a:ext cx="128016" cy="4709160"/>
          </a:xfrm>
          <a:prstGeom prst="rect">
            <a:avLst/>
          </a:prstGeom>
          <a:solidFill>
            <a:srgbClr val="C8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82880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DON’T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Hoard client files in personal folders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Duplicate whole folders across tools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Drop folder links into large group chats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8/13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Scenario A — Full Document vs Snippet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You need one paragraph, not the whole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Risky move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Forward entire document to a group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Attach full file for “context”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Creates extra copies and broad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50876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508760"/>
            <a:ext cx="128016" cy="4709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73736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Better move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Share the exact excerpt needed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Or send restricted link to 1–2 solvers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Keep access tight and traceable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9/13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Scenario B — Whole Folder in a Big Chat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Group chat is a distribution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Risky move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Drop whole folder link in big chat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Everyone gets access by default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Hard to track who copied what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508760"/>
            <a:ext cx="5227167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508760"/>
            <a:ext cx="128016" cy="4709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737360"/>
            <a:ext cx="472424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Better move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Share 1 relevant file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Share with 1–2 solvers only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Ask: who truly needs access?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10/13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Scenario C — The “Reply All” Trap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The easiest accidental disclosure.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37215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C8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134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Risk: reply‑all spreads sensitive content instantly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Fix: reply only to required recipients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Don’t re‑attach or repeat sensitive details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If needed: move details into approved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11/13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Red Flags (Stop Signs)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If you see these, stop and escalate.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37215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134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Hoarding client files in personal folders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Copying client data into unapproved tools or side projects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Using real client data for demo/test because it’s easier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Sharing large dumps “for context” or “just in case”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12/13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Theraptly • Compliance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7071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63721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02D5A"/>
                </a:solidFill>
                <a:latin typeface="Aptos Display"/>
              </a:rPr>
              <a:t>Summary + Action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A626E"/>
                </a:solidFill>
                <a:latin typeface="Aptos"/>
              </a:rPr>
              <a:t>One rule you can run all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37215" cy="4709160"/>
          </a:xfrm>
          <a:prstGeom prst="roundRect">
            <a:avLst/>
          </a:prstGeom>
          <a:solidFill>
            <a:srgbClr val="F3F6F9"/>
          </a:solidFill>
          <a:ln w="15875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128016" cy="4709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134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Personal rule: “Do I truly need this data for my job right now?”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Defaults: minimal sharing • low exposure • safe locations</a:t>
            </a:r>
          </a:p>
          <a:p>
            <a:pPr>
              <a:spcBef>
                <a:spcPts val="600"/>
              </a:spcBef>
              <a:defRPr sz="2200">
                <a:solidFill>
                  <a:srgbClr val="1E2124"/>
                </a:solidFill>
                <a:latin typeface="Aptos"/>
              </a:defRPr>
            </a:pPr>
            <a:r>
              <a:t>If unsure: pause + escalate (don’t guess)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27648"/>
            <a:ext cx="11185855" cy="9144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6E"/>
                </a:solidFill>
                <a:latin typeface="Aptos"/>
              </a:rPr>
              <a:t>p3 • Minimum Necessary + Permitted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190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26E"/>
                </a:solidFill>
                <a:latin typeface="Aptos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